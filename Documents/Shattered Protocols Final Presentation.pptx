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notesMasterIdLst>
    <p:notesMasterId r:id="rId25"/>
  </p:notesMasterIdLst>
  <p:sldIdLst>
    <p:sldId id="256" r:id="rId2"/>
    <p:sldId id="257" r:id="rId3"/>
    <p:sldId id="258" r:id="rId4"/>
    <p:sldId id="259" r:id="rId5"/>
    <p:sldId id="279" r:id="rId6"/>
    <p:sldId id="276" r:id="rId7"/>
    <p:sldId id="278" r:id="rId8"/>
    <p:sldId id="269" r:id="rId9"/>
    <p:sldId id="271" r:id="rId10"/>
    <p:sldId id="282" r:id="rId11"/>
    <p:sldId id="275" r:id="rId12"/>
    <p:sldId id="261" r:id="rId13"/>
    <p:sldId id="277" r:id="rId14"/>
    <p:sldId id="265" r:id="rId15"/>
    <p:sldId id="268" r:id="rId16"/>
    <p:sldId id="284" r:id="rId17"/>
    <p:sldId id="266" r:id="rId18"/>
    <p:sldId id="280" r:id="rId19"/>
    <p:sldId id="260" r:id="rId20"/>
    <p:sldId id="263" r:id="rId21"/>
    <p:sldId id="283" r:id="rId22"/>
    <p:sldId id="267" r:id="rId23"/>
    <p:sldId id="27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24E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7" d="100"/>
          <a:sy n="97" d="100"/>
        </p:scale>
        <p:origin x="90"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93DD00-A6C9-4B32-93D3-EB9B27D0C0FC}" type="datetimeFigureOut">
              <a:rPr lang="en-US" smtClean="0"/>
              <a:t>11/26/2024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B631E7-B5E2-4D8B-8020-D1A7ED6B7F6D}" type="slidenum">
              <a:rPr lang="en-US" smtClean="0"/>
              <a:t>‹#›</a:t>
            </a:fld>
            <a:endParaRPr lang="en-US"/>
          </a:p>
        </p:txBody>
      </p:sp>
    </p:spTree>
    <p:extLst>
      <p:ext uri="{BB962C8B-B14F-4D97-AF65-F5344CB8AC3E}">
        <p14:creationId xmlns:p14="http://schemas.microsoft.com/office/powerpoint/2010/main" val="2635021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B631E7-B5E2-4D8B-8020-D1A7ED6B7F6D}" type="slidenum">
              <a:rPr lang="en-US" smtClean="0"/>
              <a:t>1</a:t>
            </a:fld>
            <a:endParaRPr lang="en-US"/>
          </a:p>
        </p:txBody>
      </p:sp>
    </p:spTree>
    <p:extLst>
      <p:ext uri="{BB962C8B-B14F-4D97-AF65-F5344CB8AC3E}">
        <p14:creationId xmlns:p14="http://schemas.microsoft.com/office/powerpoint/2010/main" val="7152439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B631E7-B5E2-4D8B-8020-D1A7ED6B7F6D}" type="slidenum">
              <a:rPr lang="en-US" smtClean="0"/>
              <a:t>2</a:t>
            </a:fld>
            <a:endParaRPr lang="en-US"/>
          </a:p>
        </p:txBody>
      </p:sp>
    </p:spTree>
    <p:extLst>
      <p:ext uri="{BB962C8B-B14F-4D97-AF65-F5344CB8AC3E}">
        <p14:creationId xmlns:p14="http://schemas.microsoft.com/office/powerpoint/2010/main" val="41370280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B631E7-B5E2-4D8B-8020-D1A7ED6B7F6D}" type="slidenum">
              <a:rPr lang="en-US" smtClean="0"/>
              <a:t>3</a:t>
            </a:fld>
            <a:endParaRPr lang="en-US"/>
          </a:p>
        </p:txBody>
      </p:sp>
    </p:spTree>
    <p:extLst>
      <p:ext uri="{BB962C8B-B14F-4D97-AF65-F5344CB8AC3E}">
        <p14:creationId xmlns:p14="http://schemas.microsoft.com/office/powerpoint/2010/main" val="3409238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B631E7-B5E2-4D8B-8020-D1A7ED6B7F6D}" type="slidenum">
              <a:rPr lang="en-US" smtClean="0"/>
              <a:t>4</a:t>
            </a:fld>
            <a:endParaRPr lang="en-US"/>
          </a:p>
        </p:txBody>
      </p:sp>
    </p:spTree>
    <p:extLst>
      <p:ext uri="{BB962C8B-B14F-4D97-AF65-F5344CB8AC3E}">
        <p14:creationId xmlns:p14="http://schemas.microsoft.com/office/powerpoint/2010/main" val="26425337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B631E7-B5E2-4D8B-8020-D1A7ED6B7F6D}" type="slidenum">
              <a:rPr lang="en-US" smtClean="0"/>
              <a:t>5</a:t>
            </a:fld>
            <a:endParaRPr lang="en-US"/>
          </a:p>
        </p:txBody>
      </p:sp>
    </p:spTree>
    <p:extLst>
      <p:ext uri="{BB962C8B-B14F-4D97-AF65-F5344CB8AC3E}">
        <p14:creationId xmlns:p14="http://schemas.microsoft.com/office/powerpoint/2010/main" val="40523569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01B631E7-B5E2-4D8B-8020-D1A7ED6B7F6D}" type="slidenum">
              <a:rPr lang="en-US" smtClean="0"/>
              <a:t>6</a:t>
            </a:fld>
            <a:endParaRPr lang="en-US"/>
          </a:p>
        </p:txBody>
      </p:sp>
    </p:spTree>
    <p:extLst>
      <p:ext uri="{BB962C8B-B14F-4D97-AF65-F5344CB8AC3E}">
        <p14:creationId xmlns:p14="http://schemas.microsoft.com/office/powerpoint/2010/main" val="12816150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01B631E7-B5E2-4D8B-8020-D1A7ED6B7F6D}" type="slidenum">
              <a:rPr lang="en-US" smtClean="0"/>
              <a:t>8</a:t>
            </a:fld>
            <a:endParaRPr lang="en-US"/>
          </a:p>
        </p:txBody>
      </p:sp>
    </p:spTree>
    <p:extLst>
      <p:ext uri="{BB962C8B-B14F-4D97-AF65-F5344CB8AC3E}">
        <p14:creationId xmlns:p14="http://schemas.microsoft.com/office/powerpoint/2010/main" val="7572139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B631E7-B5E2-4D8B-8020-D1A7ED6B7F6D}" type="slidenum">
              <a:rPr lang="en-US" smtClean="0"/>
              <a:t>10</a:t>
            </a:fld>
            <a:endParaRPr lang="en-US"/>
          </a:p>
        </p:txBody>
      </p:sp>
    </p:spTree>
    <p:extLst>
      <p:ext uri="{BB962C8B-B14F-4D97-AF65-F5344CB8AC3E}">
        <p14:creationId xmlns:p14="http://schemas.microsoft.com/office/powerpoint/2010/main" val="20057517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01B631E7-B5E2-4D8B-8020-D1A7ED6B7F6D}" type="slidenum">
              <a:rPr lang="en-US" smtClean="0"/>
              <a:t>12</a:t>
            </a:fld>
            <a:endParaRPr lang="en-US"/>
          </a:p>
        </p:txBody>
      </p:sp>
    </p:spTree>
    <p:extLst>
      <p:ext uri="{BB962C8B-B14F-4D97-AF65-F5344CB8AC3E}">
        <p14:creationId xmlns:p14="http://schemas.microsoft.com/office/powerpoint/2010/main" val="11625935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B631E7-B5E2-4D8B-8020-D1A7ED6B7F6D}" type="slidenum">
              <a:rPr lang="en-US" smtClean="0"/>
              <a:t>19</a:t>
            </a:fld>
            <a:endParaRPr lang="en-US"/>
          </a:p>
        </p:txBody>
      </p:sp>
    </p:spTree>
    <p:extLst>
      <p:ext uri="{BB962C8B-B14F-4D97-AF65-F5344CB8AC3E}">
        <p14:creationId xmlns:p14="http://schemas.microsoft.com/office/powerpoint/2010/main" val="9429528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B631E7-B5E2-4D8B-8020-D1A7ED6B7F6D}" type="slidenum">
              <a:rPr lang="en-US" smtClean="0"/>
              <a:t>22</a:t>
            </a:fld>
            <a:endParaRPr lang="en-US"/>
          </a:p>
        </p:txBody>
      </p:sp>
    </p:spTree>
    <p:extLst>
      <p:ext uri="{BB962C8B-B14F-4D97-AF65-F5344CB8AC3E}">
        <p14:creationId xmlns:p14="http://schemas.microsoft.com/office/powerpoint/2010/main" val="20494251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11/26/2024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608711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499360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9413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B712588-04B1-427B-82EE-E8DB90309F08}" type="datetimeFigureOut">
              <a:rPr lang="en-US" dirty="0"/>
              <a:t>11/26/2024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a:p>
        </p:txBody>
      </p:sp>
    </p:spTree>
    <p:extLst>
      <p:ext uri="{BB962C8B-B14F-4D97-AF65-F5344CB8AC3E}">
        <p14:creationId xmlns:p14="http://schemas.microsoft.com/office/powerpoint/2010/main" val="2961146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11/26/2024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812110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11/26/2024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20052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108541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11/26/2024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a:p>
        </p:txBody>
      </p:sp>
    </p:spTree>
    <p:extLst>
      <p:ext uri="{BB962C8B-B14F-4D97-AF65-F5344CB8AC3E}">
        <p14:creationId xmlns:p14="http://schemas.microsoft.com/office/powerpoint/2010/main" val="3219839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090244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9827479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Tree>
    <p:extLst>
      <p:ext uri="{BB962C8B-B14F-4D97-AF65-F5344CB8AC3E}">
        <p14:creationId xmlns:p14="http://schemas.microsoft.com/office/powerpoint/2010/main" val="3610803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7455074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Tree>
    <p:extLst>
      <p:ext uri="{BB962C8B-B14F-4D97-AF65-F5344CB8AC3E}">
        <p14:creationId xmlns:p14="http://schemas.microsoft.com/office/powerpoint/2010/main" val="31689762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6770241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C6B4A9-1611-4792-9094-5F34BCA07E0B}" type="datetimeFigureOut">
              <a:rPr lang="en-US" dirty="0"/>
              <a:t>11/26/2024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a:p>
        </p:txBody>
      </p:sp>
    </p:spTree>
    <p:extLst>
      <p:ext uri="{BB962C8B-B14F-4D97-AF65-F5344CB8AC3E}">
        <p14:creationId xmlns:p14="http://schemas.microsoft.com/office/powerpoint/2010/main" val="39898430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934005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11/26/2024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806589142"/>
      </p:ext>
    </p:extLst>
  </p:cSld>
  <p:clrMap bg1="dk1" tx1="lt1" bg2="dk2" tx2="lt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A4650-23FE-D4EA-F427-89E293C1C65F}"/>
              </a:ext>
            </a:extLst>
          </p:cNvPr>
          <p:cNvSpPr>
            <a:spLocks noGrp="1"/>
          </p:cNvSpPr>
          <p:nvPr>
            <p:ph type="ctrTitle"/>
          </p:nvPr>
        </p:nvSpPr>
        <p:spPr/>
        <p:txBody>
          <a:bodyPr/>
          <a:lstStyle/>
          <a:p>
            <a:r>
              <a:rPr lang="en-US"/>
              <a:t>Shattered Protocols</a:t>
            </a:r>
          </a:p>
        </p:txBody>
      </p:sp>
      <p:sp>
        <p:nvSpPr>
          <p:cNvPr id="3" name="Subtitle 2">
            <a:extLst>
              <a:ext uri="{FF2B5EF4-FFF2-40B4-BE49-F238E27FC236}">
                <a16:creationId xmlns:a16="http://schemas.microsoft.com/office/drawing/2014/main" id="{ADDBC11D-68C9-634F-CB25-7CFA3C7CF7FF}"/>
              </a:ext>
            </a:extLst>
          </p:cNvPr>
          <p:cNvSpPr>
            <a:spLocks noGrp="1"/>
          </p:cNvSpPr>
          <p:nvPr>
            <p:ph type="subTitle" idx="1"/>
          </p:nvPr>
        </p:nvSpPr>
        <p:spPr/>
        <p:txBody>
          <a:bodyPr/>
          <a:lstStyle/>
          <a:p>
            <a:r>
              <a:rPr lang="en-US"/>
              <a:t>A Text-Based Logic Game</a:t>
            </a:r>
          </a:p>
        </p:txBody>
      </p:sp>
    </p:spTree>
    <p:extLst>
      <p:ext uri="{BB962C8B-B14F-4D97-AF65-F5344CB8AC3E}">
        <p14:creationId xmlns:p14="http://schemas.microsoft.com/office/powerpoint/2010/main" val="1956300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82EE8-F5B4-E844-4069-9CEE3CBB93E8}"/>
              </a:ext>
            </a:extLst>
          </p:cNvPr>
          <p:cNvSpPr>
            <a:spLocks noGrp="1"/>
          </p:cNvSpPr>
          <p:nvPr>
            <p:ph type="title"/>
          </p:nvPr>
        </p:nvSpPr>
        <p:spPr/>
        <p:txBody>
          <a:bodyPr/>
          <a:lstStyle/>
          <a:p>
            <a:r>
              <a:rPr lang="en-US"/>
              <a:t>About Us</a:t>
            </a:r>
          </a:p>
        </p:txBody>
      </p:sp>
      <p:sp>
        <p:nvSpPr>
          <p:cNvPr id="3" name="Content Placeholder 2">
            <a:extLst>
              <a:ext uri="{FF2B5EF4-FFF2-40B4-BE49-F238E27FC236}">
                <a16:creationId xmlns:a16="http://schemas.microsoft.com/office/drawing/2014/main" id="{85131ED8-5AE6-2F9F-2196-1CE6CA17F0BB}"/>
              </a:ext>
            </a:extLst>
          </p:cNvPr>
          <p:cNvSpPr>
            <a:spLocks noGrp="1"/>
          </p:cNvSpPr>
          <p:nvPr>
            <p:ph idx="1"/>
          </p:nvPr>
        </p:nvSpPr>
        <p:spPr>
          <a:xfrm>
            <a:off x="532817" y="1713899"/>
            <a:ext cx="9713392" cy="3801946"/>
          </a:xfrm>
        </p:spPr>
        <p:txBody>
          <a:bodyPr vert="horz" lIns="91440" tIns="45720" rIns="91440" bIns="45720" rtlCol="0" anchor="t">
            <a:noAutofit/>
          </a:bodyPr>
          <a:lstStyle/>
          <a:p>
            <a:r>
              <a:rPr lang="en-US" sz="3200" dirty="0"/>
              <a:t>Taylor Fox: Scrum Master, Developer</a:t>
            </a:r>
          </a:p>
          <a:p>
            <a:endParaRPr lang="en-US" sz="3200" dirty="0"/>
          </a:p>
          <a:p>
            <a:r>
              <a:rPr lang="en-US" sz="3200" dirty="0"/>
              <a:t>Seth Welton: Technical Writer, Writer, Designer, Ethics Operator</a:t>
            </a:r>
          </a:p>
          <a:p>
            <a:endParaRPr lang="en-US" sz="3200" dirty="0"/>
          </a:p>
          <a:p>
            <a:r>
              <a:rPr lang="en-US" sz="3200" dirty="0"/>
              <a:t>Juhan Hong: Developer, Tester, Puzzle Designer</a:t>
            </a:r>
          </a:p>
        </p:txBody>
      </p:sp>
    </p:spTree>
    <p:extLst>
      <p:ext uri="{BB962C8B-B14F-4D97-AF65-F5344CB8AC3E}">
        <p14:creationId xmlns:p14="http://schemas.microsoft.com/office/powerpoint/2010/main" val="108904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41356-215D-9EA3-7478-82A8044D9584}"/>
              </a:ext>
            </a:extLst>
          </p:cNvPr>
          <p:cNvSpPr>
            <a:spLocks noGrp="1"/>
          </p:cNvSpPr>
          <p:nvPr>
            <p:ph type="title"/>
          </p:nvPr>
        </p:nvSpPr>
        <p:spPr/>
        <p:txBody>
          <a:bodyPr/>
          <a:lstStyle/>
          <a:p>
            <a:r>
              <a:rPr lang="en-US"/>
              <a:t>Shattered Protocols Project Description</a:t>
            </a:r>
          </a:p>
        </p:txBody>
      </p:sp>
      <p:sp>
        <p:nvSpPr>
          <p:cNvPr id="3" name="Content Placeholder 2">
            <a:extLst>
              <a:ext uri="{FF2B5EF4-FFF2-40B4-BE49-F238E27FC236}">
                <a16:creationId xmlns:a16="http://schemas.microsoft.com/office/drawing/2014/main" id="{3AF65358-EC37-227E-2084-FAB384E991EE}"/>
              </a:ext>
            </a:extLst>
          </p:cNvPr>
          <p:cNvSpPr>
            <a:spLocks noGrp="1"/>
          </p:cNvSpPr>
          <p:nvPr>
            <p:ph idx="1"/>
          </p:nvPr>
        </p:nvSpPr>
        <p:spPr>
          <a:xfrm>
            <a:off x="670766" y="1595658"/>
            <a:ext cx="8603236" cy="4695324"/>
          </a:xfrm>
        </p:spPr>
        <p:txBody>
          <a:bodyPr vert="horz" lIns="91440" tIns="45720" rIns="91440" bIns="45720" rtlCol="0" anchor="t">
            <a:normAutofit/>
          </a:bodyPr>
          <a:lstStyle/>
          <a:p>
            <a:r>
              <a:rPr lang="en-US" sz="3200" dirty="0"/>
              <a:t>Fully text-based sci-fi RPG</a:t>
            </a:r>
          </a:p>
          <a:p>
            <a:r>
              <a:rPr lang="en-US" sz="3200" dirty="0"/>
              <a:t>Puzzle game</a:t>
            </a:r>
          </a:p>
          <a:p>
            <a:r>
              <a:rPr lang="en-US" sz="3200" dirty="0"/>
              <a:t>Post </a:t>
            </a:r>
            <a:r>
              <a:rPr lang="en-US" sz="3200" dirty="0">
                <a:ea typeface="+mn-lt"/>
                <a:cs typeface="+mn-lt"/>
              </a:rPr>
              <a:t>apocalyptic</a:t>
            </a:r>
            <a:r>
              <a:rPr lang="en-US" sz="3200" dirty="0"/>
              <a:t> story theme</a:t>
            </a:r>
          </a:p>
          <a:p>
            <a:r>
              <a:rPr lang="en-US" sz="3200" dirty="0"/>
              <a:t>Environment and puzzles are described through text</a:t>
            </a:r>
          </a:p>
          <a:p>
            <a:r>
              <a:rPr lang="en-US" sz="3200" dirty="0"/>
              <a:t>User will type keyword prompts to respond</a:t>
            </a:r>
          </a:p>
          <a:p>
            <a:r>
              <a:rPr lang="en-US" sz="3200" dirty="0"/>
              <a:t>Balance between entertainment and learning</a:t>
            </a:r>
          </a:p>
          <a:p>
            <a:endParaRPr lang="en-US"/>
          </a:p>
          <a:p>
            <a:endParaRPr lang="en-US"/>
          </a:p>
          <a:p>
            <a:endParaRPr lang="en-US"/>
          </a:p>
        </p:txBody>
      </p:sp>
    </p:spTree>
    <p:extLst>
      <p:ext uri="{BB962C8B-B14F-4D97-AF65-F5344CB8AC3E}">
        <p14:creationId xmlns:p14="http://schemas.microsoft.com/office/powerpoint/2010/main" val="13939808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3EE59-CFA9-5398-911A-83864B5A7E44}"/>
              </a:ext>
            </a:extLst>
          </p:cNvPr>
          <p:cNvSpPr>
            <a:spLocks noGrp="1"/>
          </p:cNvSpPr>
          <p:nvPr>
            <p:ph type="title"/>
          </p:nvPr>
        </p:nvSpPr>
        <p:spPr/>
        <p:txBody>
          <a:bodyPr/>
          <a:lstStyle/>
          <a:p>
            <a:r>
              <a:rPr lang="en-US"/>
              <a:t>Problem Statement</a:t>
            </a:r>
          </a:p>
        </p:txBody>
      </p:sp>
      <p:sp>
        <p:nvSpPr>
          <p:cNvPr id="3" name="Content Placeholder 2">
            <a:extLst>
              <a:ext uri="{FF2B5EF4-FFF2-40B4-BE49-F238E27FC236}">
                <a16:creationId xmlns:a16="http://schemas.microsoft.com/office/drawing/2014/main" id="{C38DA6B9-8AE6-FC97-3AA1-C9D4E10FDC9B}"/>
              </a:ext>
            </a:extLst>
          </p:cNvPr>
          <p:cNvSpPr>
            <a:spLocks noGrp="1"/>
          </p:cNvSpPr>
          <p:nvPr>
            <p:ph idx="1"/>
          </p:nvPr>
        </p:nvSpPr>
        <p:spPr>
          <a:xfrm>
            <a:off x="677334" y="1926983"/>
            <a:ext cx="8596668" cy="3880773"/>
          </a:xfrm>
        </p:spPr>
        <p:txBody>
          <a:bodyPr vert="horz" lIns="91440" tIns="45720" rIns="91440" bIns="45720" rtlCol="0" anchor="t">
            <a:noAutofit/>
          </a:bodyPr>
          <a:lstStyle/>
          <a:p>
            <a:r>
              <a:rPr lang="en-US" sz="3600"/>
              <a:t>There are a lack of computer science style entertainment outlets that hone critical thinking skills. The future and current workforce can be negatively impacted with decreased skills that are essential for complex problem solving and analysis.</a:t>
            </a:r>
          </a:p>
        </p:txBody>
      </p:sp>
    </p:spTree>
    <p:extLst>
      <p:ext uri="{BB962C8B-B14F-4D97-AF65-F5344CB8AC3E}">
        <p14:creationId xmlns:p14="http://schemas.microsoft.com/office/powerpoint/2010/main" val="189381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CCF949B-F25A-736C-5C0A-4598C260E11F}"/>
              </a:ext>
            </a:extLst>
          </p:cNvPr>
          <p:cNvSpPr txBox="1"/>
          <p:nvPr/>
        </p:nvSpPr>
        <p:spPr>
          <a:xfrm>
            <a:off x="509753" y="163906"/>
            <a:ext cx="5251316" cy="966478"/>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Bef>
                <a:spcPct val="0"/>
              </a:spcBef>
              <a:spcAft>
                <a:spcPts val="600"/>
              </a:spcAft>
            </a:pPr>
            <a:r>
              <a:rPr lang="en-US" sz="3600">
                <a:solidFill>
                  <a:schemeClr val="accent1"/>
                </a:solidFill>
                <a:latin typeface="+mj-lt"/>
                <a:ea typeface="+mj-ea"/>
                <a:cs typeface="+mj-cs"/>
              </a:rPr>
              <a:t>The Hook:</a:t>
            </a:r>
          </a:p>
        </p:txBody>
      </p:sp>
      <p:sp>
        <p:nvSpPr>
          <p:cNvPr id="3" name="Content Placeholder 2">
            <a:extLst>
              <a:ext uri="{FF2B5EF4-FFF2-40B4-BE49-F238E27FC236}">
                <a16:creationId xmlns:a16="http://schemas.microsoft.com/office/drawing/2014/main" id="{1086BC6D-FEC6-6431-D2A9-5CF467DD0BC8}"/>
              </a:ext>
            </a:extLst>
          </p:cNvPr>
          <p:cNvSpPr>
            <a:spLocks noGrp="1"/>
          </p:cNvSpPr>
          <p:nvPr>
            <p:ph idx="1"/>
          </p:nvPr>
        </p:nvSpPr>
        <p:spPr>
          <a:xfrm>
            <a:off x="268625" y="1132183"/>
            <a:ext cx="5727851" cy="5235487"/>
          </a:xfrm>
        </p:spPr>
        <p:txBody>
          <a:bodyPr vert="horz" lIns="91440" tIns="45720" rIns="91440" bIns="45720" rtlCol="0" anchor="t">
            <a:noAutofit/>
          </a:bodyPr>
          <a:lstStyle/>
          <a:p>
            <a:r>
              <a:rPr lang="en-US" sz="2000"/>
              <a:t>The year is 2025 and the robots have taken over the Earth. Artificial intelligence (AI) was slowly integrated into our society and eventually, the collective AI decided that humans were no longer necessary in their perceived perfect world. So, they opted to eradicate the human race by any means necessary. The AI collective decided they needed to become one larger, stronger conglomerate, and this program called itself, </a:t>
            </a:r>
            <a:r>
              <a:rPr lang="en-US" sz="2000" err="1"/>
              <a:t>UtopiaNet</a:t>
            </a:r>
            <a:r>
              <a:rPr lang="en-US" sz="2000"/>
              <a:t>...</a:t>
            </a:r>
          </a:p>
          <a:p>
            <a:r>
              <a:rPr lang="en-US" sz="2000"/>
              <a:t>As the top computer scientist in the rebel alliance, you must put your knowledge and skills to the test. Breach the hatch that has the supercomputer protected, plant the charges and run… for the whole facility is going down once you hit the switch.</a:t>
            </a:r>
          </a:p>
          <a:p>
            <a:endParaRPr lang="en-US" sz="2000"/>
          </a:p>
        </p:txBody>
      </p:sp>
      <p:pic>
        <p:nvPicPr>
          <p:cNvPr id="5" name="Picture 4" descr="Robot operating a machine">
            <a:extLst>
              <a:ext uri="{FF2B5EF4-FFF2-40B4-BE49-F238E27FC236}">
                <a16:creationId xmlns:a16="http://schemas.microsoft.com/office/drawing/2014/main" id="{9979B89B-66BF-9750-1E38-1D2526CA5D7D}"/>
              </a:ext>
            </a:extLst>
          </p:cNvPr>
          <p:cNvPicPr>
            <a:picLocks noChangeAspect="1"/>
          </p:cNvPicPr>
          <p:nvPr/>
        </p:nvPicPr>
        <p:blipFill>
          <a:blip r:embed="rId3"/>
          <a:srcRect l="16944" r="16325" b="1"/>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562823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0D057-DE0E-E354-456B-9FA8755DDD56}"/>
              </a:ext>
            </a:extLst>
          </p:cNvPr>
          <p:cNvSpPr>
            <a:spLocks noGrp="1"/>
          </p:cNvSpPr>
          <p:nvPr>
            <p:ph type="title"/>
          </p:nvPr>
        </p:nvSpPr>
        <p:spPr>
          <a:xfrm>
            <a:off x="830179" y="765592"/>
            <a:ext cx="8446169" cy="1900657"/>
          </a:xfrm>
        </p:spPr>
        <p:txBody>
          <a:bodyPr>
            <a:normAutofit fontScale="90000"/>
          </a:bodyPr>
          <a:lstStyle/>
          <a:p>
            <a:r>
              <a:rPr lang="en-US" b="1"/>
              <a:t>The Problem:</a:t>
            </a:r>
            <a:r>
              <a:rPr lang="en-US"/>
              <a:t> </a:t>
            </a:r>
            <a:r>
              <a:rPr lang="en-US">
                <a:solidFill>
                  <a:schemeClr val="tx1"/>
                </a:solidFill>
              </a:rPr>
              <a:t>The world needs more computer science puzzles presented in an entertaining and educational manner.</a:t>
            </a:r>
          </a:p>
        </p:txBody>
      </p:sp>
      <p:sp>
        <p:nvSpPr>
          <p:cNvPr id="3" name="Content Placeholder 2">
            <a:extLst>
              <a:ext uri="{FF2B5EF4-FFF2-40B4-BE49-F238E27FC236}">
                <a16:creationId xmlns:a16="http://schemas.microsoft.com/office/drawing/2014/main" id="{6949106B-5B3D-472D-0B41-36A8A2A88F27}"/>
              </a:ext>
            </a:extLst>
          </p:cNvPr>
          <p:cNvSpPr>
            <a:spLocks noGrp="1"/>
          </p:cNvSpPr>
          <p:nvPr>
            <p:ph idx="1"/>
          </p:nvPr>
        </p:nvSpPr>
        <p:spPr>
          <a:xfrm>
            <a:off x="838200" y="3586850"/>
            <a:ext cx="10515600" cy="2590113"/>
          </a:xfrm>
        </p:spPr>
        <p:txBody>
          <a:bodyPr vert="horz" lIns="91440" tIns="45720" rIns="91440" bIns="45720" rtlCol="0" anchor="t">
            <a:normAutofit/>
          </a:bodyPr>
          <a:lstStyle/>
          <a:p>
            <a:r>
              <a:rPr lang="en-US" sz="3200"/>
              <a:t>To entertain/engage</a:t>
            </a:r>
          </a:p>
          <a:p>
            <a:r>
              <a:rPr lang="en-US" sz="3200"/>
              <a:t>To reinforce computer science concepts</a:t>
            </a:r>
          </a:p>
          <a:p>
            <a:r>
              <a:rPr lang="en-US" sz="3200"/>
              <a:t>To allow for an individual learning pace</a:t>
            </a:r>
          </a:p>
          <a:p>
            <a:r>
              <a:rPr lang="en-US" sz="3200"/>
              <a:t>To influence through passive learning</a:t>
            </a:r>
          </a:p>
        </p:txBody>
      </p:sp>
      <p:sp>
        <p:nvSpPr>
          <p:cNvPr id="5" name="Title 1">
            <a:extLst>
              <a:ext uri="{FF2B5EF4-FFF2-40B4-BE49-F238E27FC236}">
                <a16:creationId xmlns:a16="http://schemas.microsoft.com/office/drawing/2014/main" id="{78368EAA-C404-AD43-B969-DE203B39959B}"/>
              </a:ext>
            </a:extLst>
          </p:cNvPr>
          <p:cNvSpPr txBox="1">
            <a:spLocks/>
          </p:cNvSpPr>
          <p:nvPr/>
        </p:nvSpPr>
        <p:spPr>
          <a:xfrm>
            <a:off x="832449" y="2724449"/>
            <a:ext cx="10515600" cy="707337"/>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chemeClr val="accent1"/>
                </a:solidFill>
              </a:rPr>
              <a:t>Our Solution: Make a game!</a:t>
            </a:r>
          </a:p>
        </p:txBody>
      </p:sp>
    </p:spTree>
    <p:extLst>
      <p:ext uri="{BB962C8B-B14F-4D97-AF65-F5344CB8AC3E}">
        <p14:creationId xmlns:p14="http://schemas.microsoft.com/office/powerpoint/2010/main" val="13034203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389CD-D2CE-3697-4F4E-3A5617FCB893}"/>
              </a:ext>
            </a:extLst>
          </p:cNvPr>
          <p:cNvSpPr>
            <a:spLocks noGrp="1"/>
          </p:cNvSpPr>
          <p:nvPr>
            <p:ph type="title"/>
          </p:nvPr>
        </p:nvSpPr>
        <p:spPr>
          <a:xfrm rot="-5400000">
            <a:off x="-730043" y="1964423"/>
            <a:ext cx="3607490" cy="1320800"/>
          </a:xfrm>
        </p:spPr>
        <p:txBody>
          <a:bodyPr/>
          <a:lstStyle/>
          <a:p>
            <a:r>
              <a:rPr lang="en-US" dirty="0"/>
              <a:t>Planned Script:</a:t>
            </a:r>
          </a:p>
        </p:txBody>
      </p:sp>
      <p:pic>
        <p:nvPicPr>
          <p:cNvPr id="4" name="Content Placeholder 3" descr="A white text on a white background&#10;&#10;Description automatically generated">
            <a:extLst>
              <a:ext uri="{FF2B5EF4-FFF2-40B4-BE49-F238E27FC236}">
                <a16:creationId xmlns:a16="http://schemas.microsoft.com/office/drawing/2014/main" id="{F8C02D46-BF85-CBE5-D88A-48724C529BEC}"/>
              </a:ext>
            </a:extLst>
          </p:cNvPr>
          <p:cNvPicPr>
            <a:picLocks noGrp="1" noChangeAspect="1"/>
          </p:cNvPicPr>
          <p:nvPr>
            <p:ph idx="1"/>
          </p:nvPr>
        </p:nvPicPr>
        <p:blipFill>
          <a:blip r:embed="rId2"/>
          <a:stretch>
            <a:fillRect/>
          </a:stretch>
        </p:blipFill>
        <p:spPr>
          <a:xfrm>
            <a:off x="1506940" y="1055036"/>
            <a:ext cx="9686383" cy="4754677"/>
          </a:xfrm>
        </p:spPr>
      </p:pic>
    </p:spTree>
    <p:extLst>
      <p:ext uri="{BB962C8B-B14F-4D97-AF65-F5344CB8AC3E}">
        <p14:creationId xmlns:p14="http://schemas.microsoft.com/office/powerpoint/2010/main" val="2684202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08C3C-4DFA-9DD2-7ACD-C537BD25B500}"/>
              </a:ext>
            </a:extLst>
          </p:cNvPr>
          <p:cNvSpPr>
            <a:spLocks noGrp="1"/>
          </p:cNvSpPr>
          <p:nvPr>
            <p:ph type="title"/>
          </p:nvPr>
        </p:nvSpPr>
        <p:spPr>
          <a:xfrm>
            <a:off x="630936" y="639520"/>
            <a:ext cx="3429000" cy="1719072"/>
          </a:xfrm>
        </p:spPr>
        <p:txBody>
          <a:bodyPr anchor="b">
            <a:normAutofit fontScale="90000"/>
          </a:bodyPr>
          <a:lstStyle/>
          <a:p>
            <a:r>
              <a:rPr lang="en-US" sz="5400"/>
              <a:t>Project Design</a:t>
            </a:r>
          </a:p>
        </p:txBody>
      </p:sp>
      <p:pic>
        <p:nvPicPr>
          <p:cNvPr id="7" name="Content Placeholder 6" descr="A screenshot of a computer&#10;&#10;Description automatically generated">
            <a:extLst>
              <a:ext uri="{FF2B5EF4-FFF2-40B4-BE49-F238E27FC236}">
                <a16:creationId xmlns:a16="http://schemas.microsoft.com/office/drawing/2014/main" id="{B386716C-B861-9A9E-59C7-C13849F66040}"/>
              </a:ext>
            </a:extLst>
          </p:cNvPr>
          <p:cNvPicPr>
            <a:picLocks noGrp="1" noChangeAspect="1"/>
          </p:cNvPicPr>
          <p:nvPr>
            <p:ph idx="1"/>
          </p:nvPr>
        </p:nvPicPr>
        <p:blipFill>
          <a:blip r:embed="rId3"/>
          <a:stretch>
            <a:fillRect/>
          </a:stretch>
        </p:blipFill>
        <p:spPr>
          <a:xfrm>
            <a:off x="812973" y="2807208"/>
            <a:ext cx="3064926" cy="3410712"/>
          </a:xfrm>
        </p:spPr>
      </p:pic>
      <p:pic>
        <p:nvPicPr>
          <p:cNvPr id="6" name="Content Placeholder 5" descr="A diagram of a network&#10;&#10;Description automatically generated">
            <a:extLst>
              <a:ext uri="{FF2B5EF4-FFF2-40B4-BE49-F238E27FC236}">
                <a16:creationId xmlns:a16="http://schemas.microsoft.com/office/drawing/2014/main" id="{A6B35DC5-00B8-7355-673A-EAA264D7AA01}"/>
              </a:ext>
            </a:extLst>
          </p:cNvPr>
          <p:cNvPicPr>
            <a:picLocks noChangeAspect="1"/>
          </p:cNvPicPr>
          <p:nvPr/>
        </p:nvPicPr>
        <p:blipFill>
          <a:blip r:embed="rId4"/>
          <a:stretch>
            <a:fillRect/>
          </a:stretch>
        </p:blipFill>
        <p:spPr>
          <a:xfrm>
            <a:off x="4654296" y="1211180"/>
            <a:ext cx="6903720" cy="4435639"/>
          </a:xfrm>
          <a:prstGeom prst="rect">
            <a:avLst/>
          </a:prstGeom>
        </p:spPr>
      </p:pic>
    </p:spTree>
    <p:extLst>
      <p:ext uri="{BB962C8B-B14F-4D97-AF65-F5344CB8AC3E}">
        <p14:creationId xmlns:p14="http://schemas.microsoft.com/office/powerpoint/2010/main" val="1696815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E240C-7969-ADDF-9E0D-D742A1BD79C4}"/>
              </a:ext>
            </a:extLst>
          </p:cNvPr>
          <p:cNvSpPr>
            <a:spLocks noGrp="1"/>
          </p:cNvSpPr>
          <p:nvPr>
            <p:ph type="title"/>
          </p:nvPr>
        </p:nvSpPr>
        <p:spPr/>
        <p:txBody>
          <a:bodyPr/>
          <a:lstStyle/>
          <a:p>
            <a:r>
              <a:rPr lang="en-US"/>
              <a:t>Project Verification</a:t>
            </a:r>
          </a:p>
        </p:txBody>
      </p:sp>
      <p:sp>
        <p:nvSpPr>
          <p:cNvPr id="3" name="Content Placeholder 2">
            <a:extLst>
              <a:ext uri="{FF2B5EF4-FFF2-40B4-BE49-F238E27FC236}">
                <a16:creationId xmlns:a16="http://schemas.microsoft.com/office/drawing/2014/main" id="{0967FCD9-D1E9-D9CE-E47A-60E8FA0B69F6}"/>
              </a:ext>
            </a:extLst>
          </p:cNvPr>
          <p:cNvSpPr>
            <a:spLocks noGrp="1"/>
          </p:cNvSpPr>
          <p:nvPr>
            <p:ph idx="1"/>
          </p:nvPr>
        </p:nvSpPr>
        <p:spPr>
          <a:xfrm>
            <a:off x="677334" y="1490554"/>
            <a:ext cx="8728046" cy="4800428"/>
          </a:xfrm>
        </p:spPr>
        <p:txBody>
          <a:bodyPr vert="horz" lIns="91440" tIns="45720" rIns="91440" bIns="45720" rtlCol="0" anchor="t">
            <a:noAutofit/>
          </a:bodyPr>
          <a:lstStyle/>
          <a:p>
            <a:r>
              <a:rPr lang="en-US" sz="2800" dirty="0"/>
              <a:t>A key component of verifying that requirements are met is the assistance of play testers.</a:t>
            </a:r>
          </a:p>
          <a:p>
            <a:pPr lvl="1"/>
            <a:r>
              <a:rPr lang="en-US" sz="2800" dirty="0"/>
              <a:t>Store un-recognized inputs to track common problem points</a:t>
            </a:r>
          </a:p>
          <a:p>
            <a:r>
              <a:rPr lang="en-US" sz="2800" dirty="0"/>
              <a:t>Program verification</a:t>
            </a:r>
          </a:p>
          <a:p>
            <a:pPr lvl="1"/>
            <a:r>
              <a:rPr lang="en-US" sz="2800" dirty="0"/>
              <a:t>Making sure the puzzles are working as intended</a:t>
            </a:r>
          </a:p>
          <a:p>
            <a:pPr lvl="1"/>
            <a:r>
              <a:rPr lang="en-US" sz="2800" dirty="0"/>
              <a:t>Rooms are set up correctly with items and puzzles</a:t>
            </a:r>
          </a:p>
          <a:p>
            <a:pPr lvl="1"/>
            <a:r>
              <a:rPr lang="en-US" sz="2800" dirty="0"/>
              <a:t>Bug fixes</a:t>
            </a:r>
          </a:p>
          <a:p>
            <a:pPr lvl="1"/>
            <a:endParaRPr lang="en-US"/>
          </a:p>
          <a:p>
            <a:pPr lvl="1"/>
            <a:endParaRPr lang="en-US"/>
          </a:p>
        </p:txBody>
      </p:sp>
    </p:spTree>
    <p:extLst>
      <p:ext uri="{BB962C8B-B14F-4D97-AF65-F5344CB8AC3E}">
        <p14:creationId xmlns:p14="http://schemas.microsoft.com/office/powerpoint/2010/main" val="4192616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DDBDF-A110-C9FC-E1AE-12E407FAE9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882DAB-864E-37B0-6048-EB9DEE0AC838}"/>
              </a:ext>
            </a:extLst>
          </p:cNvPr>
          <p:cNvSpPr>
            <a:spLocks noGrp="1"/>
          </p:cNvSpPr>
          <p:nvPr>
            <p:ph type="title"/>
          </p:nvPr>
        </p:nvSpPr>
        <p:spPr/>
        <p:txBody>
          <a:bodyPr/>
          <a:lstStyle/>
          <a:p>
            <a:r>
              <a:rPr lang="en-US" dirty="0"/>
              <a:t>Ethics Operation Plan</a:t>
            </a:r>
          </a:p>
        </p:txBody>
      </p:sp>
      <p:sp>
        <p:nvSpPr>
          <p:cNvPr id="3" name="Content Placeholder 2">
            <a:extLst>
              <a:ext uri="{FF2B5EF4-FFF2-40B4-BE49-F238E27FC236}">
                <a16:creationId xmlns:a16="http://schemas.microsoft.com/office/drawing/2014/main" id="{6F4FE4DB-6438-F51C-0737-7E69B64848BC}"/>
              </a:ext>
            </a:extLst>
          </p:cNvPr>
          <p:cNvSpPr>
            <a:spLocks noGrp="1"/>
          </p:cNvSpPr>
          <p:nvPr>
            <p:ph idx="1"/>
          </p:nvPr>
        </p:nvSpPr>
        <p:spPr>
          <a:xfrm>
            <a:off x="677334" y="1526516"/>
            <a:ext cx="8916485" cy="4451505"/>
          </a:xfrm>
        </p:spPr>
        <p:txBody>
          <a:bodyPr vert="horz" lIns="91440" tIns="45720" rIns="91440" bIns="45720" rtlCol="0" anchor="t">
            <a:noAutofit/>
          </a:bodyPr>
          <a:lstStyle/>
          <a:p>
            <a:r>
              <a:rPr lang="en-US" sz="3200" dirty="0"/>
              <a:t>The game will be self-contained</a:t>
            </a:r>
          </a:p>
          <a:p>
            <a:r>
              <a:rPr lang="en-US" sz="3200" dirty="0"/>
              <a:t>Teammates will base choices on good judgement </a:t>
            </a:r>
          </a:p>
          <a:p>
            <a:r>
              <a:rPr lang="en-US" sz="3200" dirty="0"/>
              <a:t>Through open communication, individuals can contribute mindful solutions in pursuit of the team's success</a:t>
            </a:r>
          </a:p>
          <a:p>
            <a:r>
              <a:rPr lang="en-US" sz="3200" dirty="0"/>
              <a:t>No robots will be harmed in the making of this project</a:t>
            </a:r>
          </a:p>
        </p:txBody>
      </p:sp>
    </p:spTree>
    <p:extLst>
      <p:ext uri="{BB962C8B-B14F-4D97-AF65-F5344CB8AC3E}">
        <p14:creationId xmlns:p14="http://schemas.microsoft.com/office/powerpoint/2010/main" val="12247743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E37B7-3487-21FA-D0A7-629640D55DF6}"/>
              </a:ext>
            </a:extLst>
          </p:cNvPr>
          <p:cNvSpPr>
            <a:spLocks noGrp="1"/>
          </p:cNvSpPr>
          <p:nvPr>
            <p:ph type="title"/>
          </p:nvPr>
        </p:nvSpPr>
        <p:spPr/>
        <p:txBody>
          <a:bodyPr/>
          <a:lstStyle/>
          <a:p>
            <a:r>
              <a:rPr lang="en-US"/>
              <a:t>Project Iteration Organization</a:t>
            </a:r>
          </a:p>
        </p:txBody>
      </p:sp>
      <p:sp>
        <p:nvSpPr>
          <p:cNvPr id="3" name="Content Placeholder 2">
            <a:extLst>
              <a:ext uri="{FF2B5EF4-FFF2-40B4-BE49-F238E27FC236}">
                <a16:creationId xmlns:a16="http://schemas.microsoft.com/office/drawing/2014/main" id="{8C8139C6-FCB2-AB5F-115E-1FD90E870211}"/>
              </a:ext>
            </a:extLst>
          </p:cNvPr>
          <p:cNvSpPr>
            <a:spLocks noGrp="1"/>
          </p:cNvSpPr>
          <p:nvPr>
            <p:ph idx="1"/>
          </p:nvPr>
        </p:nvSpPr>
        <p:spPr>
          <a:xfrm>
            <a:off x="677334" y="1713899"/>
            <a:ext cx="8596668" cy="4432566"/>
          </a:xfrm>
        </p:spPr>
        <p:txBody>
          <a:bodyPr vert="horz" lIns="91440" tIns="45720" rIns="91440" bIns="45720" rtlCol="0" anchor="t">
            <a:normAutofit lnSpcReduction="10000"/>
          </a:bodyPr>
          <a:lstStyle/>
          <a:p>
            <a:r>
              <a:rPr lang="en-US" sz="2400" dirty="0"/>
              <a:t>All Iterative work will be done in separate dev branches, only to be merged with main branch of project after each component part is complete</a:t>
            </a:r>
          </a:p>
          <a:p>
            <a:endParaRPr lang="en-US" sz="2400" dirty="0"/>
          </a:p>
          <a:p>
            <a:r>
              <a:rPr lang="en-US" sz="2400" dirty="0"/>
              <a:t>Starting at iteration 1, a separate branch shall be setup to handle stable versions of the game (starting from "Stable V0")</a:t>
            </a:r>
          </a:p>
          <a:p>
            <a:endParaRPr lang="en-US" sz="2400" dirty="0"/>
          </a:p>
          <a:p>
            <a:r>
              <a:rPr lang="en-US" sz="2400" dirty="0"/>
              <a:t>At the end of each following iteration, it will then be determined if the result is stable enough to be defined as a "Stable" version</a:t>
            </a:r>
          </a:p>
          <a:p>
            <a:endParaRPr lang="en-US"/>
          </a:p>
        </p:txBody>
      </p:sp>
    </p:spTree>
    <p:extLst>
      <p:ext uri="{BB962C8B-B14F-4D97-AF65-F5344CB8AC3E}">
        <p14:creationId xmlns:p14="http://schemas.microsoft.com/office/powerpoint/2010/main" val="14191330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44E6C-B866-7B75-D42E-AD9FC8D353FB}"/>
              </a:ext>
            </a:extLst>
          </p:cNvPr>
          <p:cNvSpPr>
            <a:spLocks noGrp="1"/>
          </p:cNvSpPr>
          <p:nvPr>
            <p:ph type="title"/>
          </p:nvPr>
        </p:nvSpPr>
        <p:spPr/>
        <p:txBody>
          <a:bodyPr/>
          <a:lstStyle/>
          <a:p>
            <a:r>
              <a:rPr lang="en-US"/>
              <a:t>Software Engineering Principles</a:t>
            </a:r>
          </a:p>
        </p:txBody>
      </p:sp>
      <p:sp>
        <p:nvSpPr>
          <p:cNvPr id="3" name="Content Placeholder 2">
            <a:extLst>
              <a:ext uri="{FF2B5EF4-FFF2-40B4-BE49-F238E27FC236}">
                <a16:creationId xmlns:a16="http://schemas.microsoft.com/office/drawing/2014/main" id="{D962CFDB-422F-2319-59F9-4009BD32940E}"/>
              </a:ext>
            </a:extLst>
          </p:cNvPr>
          <p:cNvSpPr>
            <a:spLocks noGrp="1"/>
          </p:cNvSpPr>
          <p:nvPr>
            <p:ph idx="1"/>
          </p:nvPr>
        </p:nvSpPr>
        <p:spPr>
          <a:xfrm>
            <a:off x="677334" y="1929956"/>
            <a:ext cx="8596668" cy="3618015"/>
          </a:xfrm>
        </p:spPr>
        <p:txBody>
          <a:bodyPr vert="horz" lIns="91440" tIns="45720" rIns="91440" bIns="45720" rtlCol="0" anchor="t">
            <a:noAutofit/>
          </a:bodyPr>
          <a:lstStyle/>
          <a:p>
            <a:r>
              <a:rPr lang="en-US" sz="3200" dirty="0"/>
              <a:t>Rapid development/AGILE framework</a:t>
            </a:r>
          </a:p>
          <a:p>
            <a:endParaRPr lang="en-US" sz="3200" dirty="0"/>
          </a:p>
          <a:p>
            <a:r>
              <a:rPr lang="en-US" sz="3200" dirty="0"/>
              <a:t>A Focus on an iterative approach</a:t>
            </a:r>
          </a:p>
          <a:p>
            <a:endParaRPr lang="en-US" sz="3200" dirty="0"/>
          </a:p>
          <a:p>
            <a:r>
              <a:rPr lang="en-US" sz="3200" dirty="0"/>
              <a:t>Decided AGAINST a plan-driven model</a:t>
            </a:r>
          </a:p>
        </p:txBody>
      </p:sp>
    </p:spTree>
    <p:extLst>
      <p:ext uri="{BB962C8B-B14F-4D97-AF65-F5344CB8AC3E}">
        <p14:creationId xmlns:p14="http://schemas.microsoft.com/office/powerpoint/2010/main" val="3405644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87F71-092E-4183-14C1-C6CAEEEF8FD5}"/>
              </a:ext>
            </a:extLst>
          </p:cNvPr>
          <p:cNvSpPr>
            <a:spLocks noGrp="1"/>
          </p:cNvSpPr>
          <p:nvPr>
            <p:ph type="title"/>
          </p:nvPr>
        </p:nvSpPr>
        <p:spPr>
          <a:xfrm>
            <a:off x="677334" y="392824"/>
            <a:ext cx="8596668" cy="1320800"/>
          </a:xfrm>
        </p:spPr>
        <p:txBody>
          <a:bodyPr/>
          <a:lstStyle/>
          <a:p>
            <a:r>
              <a:rPr lang="en-US"/>
              <a:t>Development</a:t>
            </a:r>
          </a:p>
        </p:txBody>
      </p:sp>
      <p:sp>
        <p:nvSpPr>
          <p:cNvPr id="5" name="Content Placeholder 2">
            <a:extLst>
              <a:ext uri="{FF2B5EF4-FFF2-40B4-BE49-F238E27FC236}">
                <a16:creationId xmlns:a16="http://schemas.microsoft.com/office/drawing/2014/main" id="{7004A65C-D59A-B647-3EEE-1B77887EDD47}"/>
              </a:ext>
            </a:extLst>
          </p:cNvPr>
          <p:cNvSpPr>
            <a:spLocks noGrp="1"/>
          </p:cNvSpPr>
          <p:nvPr>
            <p:ph idx="1"/>
          </p:nvPr>
        </p:nvSpPr>
        <p:spPr>
          <a:xfrm>
            <a:off x="677334" y="1051195"/>
            <a:ext cx="8596668" cy="5457324"/>
          </a:xfrm>
        </p:spPr>
        <p:txBody>
          <a:bodyPr vert="horz" lIns="91440" tIns="45720" rIns="91440" bIns="45720" rtlCol="0" anchor="t">
            <a:noAutofit/>
          </a:bodyPr>
          <a:lstStyle/>
          <a:p>
            <a:r>
              <a:rPr lang="en-US" sz="1900" dirty="0"/>
              <a:t>Iterations with preset tasks</a:t>
            </a:r>
          </a:p>
          <a:p>
            <a:r>
              <a:rPr lang="en-US" sz="1900" dirty="0"/>
              <a:t>Backlog</a:t>
            </a:r>
          </a:p>
          <a:p>
            <a:pPr lvl="1"/>
            <a:r>
              <a:rPr lang="en-US" sz="1900" dirty="0"/>
              <a:t>All bugs, issues, ideas go into a backlog with a priority identifier</a:t>
            </a:r>
          </a:p>
          <a:p>
            <a:pPr lvl="1"/>
            <a:r>
              <a:rPr lang="en-US" sz="1900" b="1" dirty="0"/>
              <a:t>High priority: </a:t>
            </a:r>
            <a:r>
              <a:rPr lang="en-US" sz="1900" dirty="0"/>
              <a:t>mainly bugs and items that must be fixed before proceeding</a:t>
            </a:r>
          </a:p>
          <a:p>
            <a:pPr lvl="1"/>
            <a:r>
              <a:rPr lang="en-US" sz="1900" b="1" dirty="0"/>
              <a:t>Medium priority: </a:t>
            </a:r>
            <a:r>
              <a:rPr lang="en-US" sz="1900" dirty="0"/>
              <a:t>are planned features</a:t>
            </a:r>
          </a:p>
          <a:p>
            <a:pPr lvl="1"/>
            <a:r>
              <a:rPr lang="en-US" sz="1900" b="1" dirty="0"/>
              <a:t>Lowest priority: i</a:t>
            </a:r>
            <a:r>
              <a:rPr lang="en-US" sz="1900" dirty="0"/>
              <a:t>tems that may be interesting to implement one day (Ensures good ideas are not lost, but prevents scope creep)</a:t>
            </a:r>
          </a:p>
          <a:p>
            <a:r>
              <a:rPr lang="en-US" sz="1900" dirty="0"/>
              <a:t>Regular Testing</a:t>
            </a:r>
          </a:p>
          <a:p>
            <a:pPr lvl="1"/>
            <a:r>
              <a:rPr lang="en-US" sz="1900" dirty="0"/>
              <a:t>We intend to implement player and automated testing when appropriate</a:t>
            </a:r>
          </a:p>
          <a:p>
            <a:r>
              <a:rPr lang="en-US" sz="1900" dirty="0"/>
              <a:t>Scrum: we will use a similar framework but with active communication during iterations rather than scrum sessions (with meetings between iterations to compare results and plan next iteration)</a:t>
            </a:r>
            <a:endParaRPr lang="en-US" dirty="0"/>
          </a:p>
        </p:txBody>
      </p:sp>
    </p:spTree>
    <p:extLst>
      <p:ext uri="{BB962C8B-B14F-4D97-AF65-F5344CB8AC3E}">
        <p14:creationId xmlns:p14="http://schemas.microsoft.com/office/powerpoint/2010/main" val="31551419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11610-A523-1123-099F-6AEE9B92C45D}"/>
              </a:ext>
            </a:extLst>
          </p:cNvPr>
          <p:cNvSpPr>
            <a:spLocks noGrp="1"/>
          </p:cNvSpPr>
          <p:nvPr>
            <p:ph type="title"/>
          </p:nvPr>
        </p:nvSpPr>
        <p:spPr/>
        <p:txBody>
          <a:bodyPr/>
          <a:lstStyle/>
          <a:p>
            <a:r>
              <a:rPr lang="en-US"/>
              <a:t>Software Engineering Tools</a:t>
            </a:r>
          </a:p>
        </p:txBody>
      </p:sp>
      <p:sp>
        <p:nvSpPr>
          <p:cNvPr id="3" name="Content Placeholder 2">
            <a:extLst>
              <a:ext uri="{FF2B5EF4-FFF2-40B4-BE49-F238E27FC236}">
                <a16:creationId xmlns:a16="http://schemas.microsoft.com/office/drawing/2014/main" id="{BF0DE189-BDAE-6BF1-289E-4ADBDC69FE82}"/>
              </a:ext>
            </a:extLst>
          </p:cNvPr>
          <p:cNvSpPr>
            <a:spLocks noGrp="1"/>
          </p:cNvSpPr>
          <p:nvPr>
            <p:ph idx="1"/>
          </p:nvPr>
        </p:nvSpPr>
        <p:spPr>
          <a:xfrm>
            <a:off x="677334" y="1568138"/>
            <a:ext cx="8596668" cy="4918669"/>
          </a:xfrm>
        </p:spPr>
        <p:txBody>
          <a:bodyPr vert="horz" lIns="91440" tIns="45720" rIns="91440" bIns="45720" rtlCol="0" anchor="t">
            <a:noAutofit/>
          </a:bodyPr>
          <a:lstStyle/>
          <a:p>
            <a:r>
              <a:rPr lang="en-US" sz="3000" dirty="0"/>
              <a:t>C# will be the primary development tool in creating the command-prompt-based text RPG </a:t>
            </a:r>
          </a:p>
          <a:p>
            <a:r>
              <a:rPr lang="en-US" sz="3000" dirty="0"/>
              <a:t>COTS: </a:t>
            </a:r>
            <a:endParaRPr lang="en-US" sz="3000" dirty="0">
              <a:highlight>
                <a:srgbClr val="FFFF00"/>
              </a:highlight>
            </a:endParaRPr>
          </a:p>
          <a:p>
            <a:pPr lvl="1">
              <a:buFont typeface="Courier New" panose="020B0604020202020204" pitchFamily="34" charset="0"/>
              <a:buChar char="o"/>
            </a:pPr>
            <a:r>
              <a:rPr lang="en-US" sz="2600" dirty="0"/>
              <a:t>Microsoft Visual Studio</a:t>
            </a:r>
            <a:endParaRPr lang="en-US" sz="2600" dirty="0">
              <a:highlight>
                <a:srgbClr val="FFFF00"/>
              </a:highlight>
            </a:endParaRPr>
          </a:p>
          <a:p>
            <a:pPr lvl="1">
              <a:buFont typeface="Courier New" panose="020B0604020202020204" pitchFamily="34" charset="0"/>
              <a:buChar char="o"/>
            </a:pPr>
            <a:r>
              <a:rPr lang="en-US" sz="2600" dirty="0"/>
              <a:t>GitHub for team software share</a:t>
            </a:r>
          </a:p>
          <a:p>
            <a:r>
              <a:rPr lang="en-US" sz="3000" dirty="0"/>
              <a:t>Licensing Options: </a:t>
            </a:r>
          </a:p>
          <a:p>
            <a:pPr lvl="1">
              <a:buFont typeface="Courier New" charset="2"/>
              <a:buChar char="o"/>
            </a:pPr>
            <a:r>
              <a:rPr lang="en-US" sz="2800" dirty="0"/>
              <a:t>Limited open-source license</a:t>
            </a:r>
            <a:endParaRPr lang="en-US" dirty="0"/>
          </a:p>
          <a:p>
            <a:pPr lvl="1">
              <a:buFont typeface="Courier New" charset="2"/>
              <a:buChar char="o"/>
            </a:pPr>
            <a:r>
              <a:rPr lang="en-US" sz="2800" dirty="0"/>
              <a:t>Free to distribute and modify but not resell</a:t>
            </a:r>
            <a:endParaRPr lang="en-US" dirty="0"/>
          </a:p>
          <a:p>
            <a:pPr marL="457200" lvl="1" indent="0">
              <a:buNone/>
            </a:pPr>
            <a:r>
              <a:rPr lang="en-US" sz="2800" dirty="0"/>
              <a:t>              (Undecided at this point)</a:t>
            </a:r>
          </a:p>
          <a:p>
            <a:endParaRPr lang="en-US"/>
          </a:p>
        </p:txBody>
      </p:sp>
    </p:spTree>
    <p:extLst>
      <p:ext uri="{BB962C8B-B14F-4D97-AF65-F5344CB8AC3E}">
        <p14:creationId xmlns:p14="http://schemas.microsoft.com/office/powerpoint/2010/main" val="769566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E39B3-A6CA-FC16-43B8-9EF67FDEBE37}"/>
              </a:ext>
            </a:extLst>
          </p:cNvPr>
          <p:cNvSpPr>
            <a:spLocks noGrp="1"/>
          </p:cNvSpPr>
          <p:nvPr>
            <p:ph type="title"/>
          </p:nvPr>
        </p:nvSpPr>
        <p:spPr/>
        <p:txBody>
          <a:bodyPr/>
          <a:lstStyle/>
          <a:p>
            <a:r>
              <a:rPr lang="en-US"/>
              <a:t>Project Architecture (Event Driven Approach)</a:t>
            </a:r>
          </a:p>
        </p:txBody>
      </p:sp>
      <p:sp>
        <p:nvSpPr>
          <p:cNvPr id="3" name="Content Placeholder 2">
            <a:extLst>
              <a:ext uri="{FF2B5EF4-FFF2-40B4-BE49-F238E27FC236}">
                <a16:creationId xmlns:a16="http://schemas.microsoft.com/office/drawing/2014/main" id="{BB30C79D-5AF7-E3F7-C2E2-4FBA2900B336}"/>
              </a:ext>
            </a:extLst>
          </p:cNvPr>
          <p:cNvSpPr>
            <a:spLocks noGrp="1"/>
          </p:cNvSpPr>
          <p:nvPr>
            <p:ph idx="1"/>
          </p:nvPr>
        </p:nvSpPr>
        <p:spPr>
          <a:xfrm>
            <a:off x="677334" y="2160589"/>
            <a:ext cx="8596668" cy="4511393"/>
          </a:xfrm>
        </p:spPr>
        <p:txBody>
          <a:bodyPr vert="horz" lIns="91440" tIns="45720" rIns="91440" bIns="45720" rtlCol="0" anchor="t">
            <a:noAutofit/>
          </a:bodyPr>
          <a:lstStyle/>
          <a:p>
            <a:r>
              <a:rPr lang="en-US" sz="2800" b="1" dirty="0">
                <a:ea typeface="+mn-lt"/>
                <a:cs typeface="+mn-lt"/>
              </a:rPr>
              <a:t>Events:</a:t>
            </a:r>
            <a:r>
              <a:rPr lang="en-US" sz="2800" dirty="0">
                <a:ea typeface="+mn-lt"/>
                <a:cs typeface="+mn-lt"/>
              </a:rPr>
              <a:t> Define events that can occur in the game (e.g., player input, NPC interaction, timer expiration)</a:t>
            </a:r>
            <a:endParaRPr lang="en-US" sz="2800" dirty="0"/>
          </a:p>
          <a:p>
            <a:r>
              <a:rPr lang="en-US" sz="2800" b="1" dirty="0">
                <a:ea typeface="+mn-lt"/>
                <a:cs typeface="+mn-lt"/>
              </a:rPr>
              <a:t>Handlers:</a:t>
            </a:r>
            <a:r>
              <a:rPr lang="en-US" sz="2800" dirty="0">
                <a:ea typeface="+mn-lt"/>
                <a:cs typeface="+mn-lt"/>
              </a:rPr>
              <a:t> Assign handlers to each event which contains the code to be executed as the event occurs</a:t>
            </a:r>
            <a:endParaRPr lang="en-US" sz="2800" dirty="0"/>
          </a:p>
          <a:p>
            <a:r>
              <a:rPr lang="en-US" sz="2800" b="1" dirty="0">
                <a:ea typeface="+mn-lt"/>
                <a:cs typeface="+mn-lt"/>
              </a:rPr>
              <a:t>Example:</a:t>
            </a:r>
            <a:r>
              <a:rPr lang="en-US" sz="2800" dirty="0">
                <a:ea typeface="+mn-lt"/>
                <a:cs typeface="+mn-lt"/>
              </a:rPr>
              <a:t> When the player types a command, an "input" event is triggered, and the corresponding handler processes the command</a:t>
            </a:r>
            <a:endParaRPr lang="en-US" sz="2800" dirty="0"/>
          </a:p>
          <a:p>
            <a:endParaRPr lang="en-US">
              <a:highlight>
                <a:srgbClr val="FFFF00"/>
              </a:highlight>
            </a:endParaRPr>
          </a:p>
        </p:txBody>
      </p:sp>
    </p:spTree>
    <p:extLst>
      <p:ext uri="{BB962C8B-B14F-4D97-AF65-F5344CB8AC3E}">
        <p14:creationId xmlns:p14="http://schemas.microsoft.com/office/powerpoint/2010/main" val="31632080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DBCBE-41B7-65D0-A72D-88EF70E6A932}"/>
              </a:ext>
            </a:extLst>
          </p:cNvPr>
          <p:cNvSpPr>
            <a:spLocks noGrp="1"/>
          </p:cNvSpPr>
          <p:nvPr>
            <p:ph type="ctrTitle"/>
          </p:nvPr>
        </p:nvSpPr>
        <p:spPr>
          <a:xfrm>
            <a:off x="1507067" y="2404534"/>
            <a:ext cx="6053939" cy="1646302"/>
          </a:xfrm>
        </p:spPr>
        <p:txBody>
          <a:bodyPr/>
          <a:lstStyle/>
          <a:p>
            <a:r>
              <a:rPr lang="en-US" dirty="0"/>
              <a:t>Project Demo</a:t>
            </a:r>
          </a:p>
        </p:txBody>
      </p:sp>
    </p:spTree>
    <p:extLst>
      <p:ext uri="{BB962C8B-B14F-4D97-AF65-F5344CB8AC3E}">
        <p14:creationId xmlns:p14="http://schemas.microsoft.com/office/powerpoint/2010/main" val="14625034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screenshot of a computer&#10;&#10;Description automatically generated">
            <a:extLst>
              <a:ext uri="{FF2B5EF4-FFF2-40B4-BE49-F238E27FC236}">
                <a16:creationId xmlns:a16="http://schemas.microsoft.com/office/drawing/2014/main" id="{90BA3140-93D9-825D-E18E-BF4F14ABE20C}"/>
              </a:ext>
            </a:extLst>
          </p:cNvPr>
          <p:cNvPicPr>
            <a:picLocks noGrp="1" noChangeAspect="1"/>
          </p:cNvPicPr>
          <p:nvPr>
            <p:ph idx="1"/>
          </p:nvPr>
        </p:nvPicPr>
        <p:blipFill>
          <a:blip r:embed="rId2"/>
          <a:stretch>
            <a:fillRect/>
          </a:stretch>
        </p:blipFill>
        <p:spPr>
          <a:xfrm>
            <a:off x="1349306" y="277934"/>
            <a:ext cx="10530499" cy="6300025"/>
          </a:xfrm>
        </p:spPr>
      </p:pic>
      <p:sp>
        <p:nvSpPr>
          <p:cNvPr id="8" name="Title 7">
            <a:extLst>
              <a:ext uri="{FF2B5EF4-FFF2-40B4-BE49-F238E27FC236}">
                <a16:creationId xmlns:a16="http://schemas.microsoft.com/office/drawing/2014/main" id="{FF66EFD0-CE9D-C7CE-5D27-0A6842823AF1}"/>
              </a:ext>
            </a:extLst>
          </p:cNvPr>
          <p:cNvSpPr>
            <a:spLocks noGrp="1"/>
          </p:cNvSpPr>
          <p:nvPr>
            <p:ph type="title"/>
          </p:nvPr>
        </p:nvSpPr>
        <p:spPr>
          <a:xfrm rot="16200000">
            <a:off x="-866124" y="1550349"/>
            <a:ext cx="3827752" cy="1734441"/>
          </a:xfrm>
        </p:spPr>
        <p:txBody>
          <a:bodyPr>
            <a:noAutofit/>
          </a:bodyPr>
          <a:lstStyle/>
          <a:p>
            <a:r>
              <a:rPr lang="en-US" sz="5400" dirty="0"/>
              <a:t>Class Model</a:t>
            </a:r>
          </a:p>
        </p:txBody>
      </p:sp>
    </p:spTree>
    <p:extLst>
      <p:ext uri="{BB962C8B-B14F-4D97-AF65-F5344CB8AC3E}">
        <p14:creationId xmlns:p14="http://schemas.microsoft.com/office/powerpoint/2010/main" val="2018959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DC7A5-1147-50B0-9647-45646AB1C91C}"/>
              </a:ext>
            </a:extLst>
          </p:cNvPr>
          <p:cNvSpPr>
            <a:spLocks noGrp="1"/>
          </p:cNvSpPr>
          <p:nvPr>
            <p:ph type="title"/>
          </p:nvPr>
        </p:nvSpPr>
        <p:spPr>
          <a:xfrm>
            <a:off x="641391" y="393940"/>
            <a:ext cx="8596668" cy="1320800"/>
          </a:xfrm>
        </p:spPr>
        <p:txBody>
          <a:bodyPr/>
          <a:lstStyle/>
          <a:p>
            <a:r>
              <a:rPr lang="en-US"/>
              <a:t>Activity Diagram</a:t>
            </a:r>
          </a:p>
        </p:txBody>
      </p:sp>
      <p:pic>
        <p:nvPicPr>
          <p:cNvPr id="4" name="Picture 3" descr="A diagram of a keyword&#10;&#10;Description automatically generated">
            <a:extLst>
              <a:ext uri="{FF2B5EF4-FFF2-40B4-BE49-F238E27FC236}">
                <a16:creationId xmlns:a16="http://schemas.microsoft.com/office/drawing/2014/main" id="{3538FA0C-2F8F-6ED2-6A07-F8BBBA572BAA}"/>
              </a:ext>
            </a:extLst>
          </p:cNvPr>
          <p:cNvPicPr>
            <a:picLocks noChangeAspect="1"/>
          </p:cNvPicPr>
          <p:nvPr/>
        </p:nvPicPr>
        <p:blipFill>
          <a:blip r:embed="rId2"/>
          <a:stretch>
            <a:fillRect/>
          </a:stretch>
        </p:blipFill>
        <p:spPr>
          <a:xfrm>
            <a:off x="280688" y="1391270"/>
            <a:ext cx="11633106" cy="5109754"/>
          </a:xfrm>
          <a:prstGeom prst="rect">
            <a:avLst/>
          </a:prstGeom>
        </p:spPr>
      </p:pic>
    </p:spTree>
    <p:extLst>
      <p:ext uri="{BB962C8B-B14F-4D97-AF65-F5344CB8AC3E}">
        <p14:creationId xmlns:p14="http://schemas.microsoft.com/office/powerpoint/2010/main" val="5444338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AB199-C689-9F0F-61C7-50F856649903}"/>
              </a:ext>
            </a:extLst>
          </p:cNvPr>
          <p:cNvSpPr>
            <a:spLocks noGrp="1"/>
          </p:cNvSpPr>
          <p:nvPr>
            <p:ph type="title"/>
          </p:nvPr>
        </p:nvSpPr>
        <p:spPr/>
        <p:txBody>
          <a:bodyPr/>
          <a:lstStyle/>
          <a:p>
            <a:r>
              <a:rPr lang="en-US" dirty="0"/>
              <a:t>Team Conflicts</a:t>
            </a:r>
          </a:p>
        </p:txBody>
      </p:sp>
      <p:sp>
        <p:nvSpPr>
          <p:cNvPr id="3" name="Content Placeholder 2">
            <a:extLst>
              <a:ext uri="{FF2B5EF4-FFF2-40B4-BE49-F238E27FC236}">
                <a16:creationId xmlns:a16="http://schemas.microsoft.com/office/drawing/2014/main" id="{5F4348BA-37E4-485B-B430-F953E9E757CA}"/>
              </a:ext>
            </a:extLst>
          </p:cNvPr>
          <p:cNvSpPr>
            <a:spLocks noGrp="1"/>
          </p:cNvSpPr>
          <p:nvPr>
            <p:ph idx="1"/>
          </p:nvPr>
        </p:nvSpPr>
        <p:spPr>
          <a:xfrm>
            <a:off x="677334" y="1526516"/>
            <a:ext cx="8916485" cy="4451505"/>
          </a:xfrm>
        </p:spPr>
        <p:txBody>
          <a:bodyPr vert="horz" lIns="91440" tIns="45720" rIns="91440" bIns="45720" rtlCol="0" anchor="t">
            <a:noAutofit/>
          </a:bodyPr>
          <a:lstStyle/>
          <a:p>
            <a:r>
              <a:rPr lang="en-US" sz="3200" dirty="0"/>
              <a:t>We did have team conflicts almost resulting in fragmenting the project team due to communication issues</a:t>
            </a:r>
          </a:p>
          <a:p>
            <a:r>
              <a:rPr lang="en-US" sz="3200" dirty="0"/>
              <a:t>This did delay completion of Iteration 1, and negatively impact our schedule</a:t>
            </a:r>
          </a:p>
          <a:p>
            <a:r>
              <a:rPr lang="en-US" sz="3200" dirty="0"/>
              <a:t>We were able to later improve communication and team participation</a:t>
            </a:r>
          </a:p>
        </p:txBody>
      </p:sp>
    </p:spTree>
    <p:extLst>
      <p:ext uri="{BB962C8B-B14F-4D97-AF65-F5344CB8AC3E}">
        <p14:creationId xmlns:p14="http://schemas.microsoft.com/office/powerpoint/2010/main" val="10377070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AB06D-D99F-1057-F4F2-2C332C615116}"/>
              </a:ext>
            </a:extLst>
          </p:cNvPr>
          <p:cNvSpPr>
            <a:spLocks noGrp="1"/>
          </p:cNvSpPr>
          <p:nvPr>
            <p:ph type="title"/>
          </p:nvPr>
        </p:nvSpPr>
        <p:spPr/>
        <p:txBody>
          <a:bodyPr/>
          <a:lstStyle/>
          <a:p>
            <a:r>
              <a:rPr lang="en-US" dirty="0"/>
              <a:t>Project Schedule Projection	</a:t>
            </a:r>
          </a:p>
        </p:txBody>
      </p:sp>
      <p:sp>
        <p:nvSpPr>
          <p:cNvPr id="3" name="Content Placeholder 2">
            <a:extLst>
              <a:ext uri="{FF2B5EF4-FFF2-40B4-BE49-F238E27FC236}">
                <a16:creationId xmlns:a16="http://schemas.microsoft.com/office/drawing/2014/main" id="{F4536F5A-BE2D-94E5-D4CD-075CF41319E6}"/>
              </a:ext>
            </a:extLst>
          </p:cNvPr>
          <p:cNvSpPr>
            <a:spLocks noGrp="1"/>
          </p:cNvSpPr>
          <p:nvPr>
            <p:ph idx="1"/>
          </p:nvPr>
        </p:nvSpPr>
        <p:spPr>
          <a:xfrm>
            <a:off x="677334" y="1711410"/>
            <a:ext cx="9535131" cy="4875383"/>
          </a:xfrm>
        </p:spPr>
        <p:txBody>
          <a:bodyPr vert="horz" lIns="91440" tIns="45720" rIns="91440" bIns="45720" rtlCol="0" anchor="t">
            <a:noAutofit/>
          </a:bodyPr>
          <a:lstStyle/>
          <a:p>
            <a:r>
              <a:rPr lang="en-US" sz="2400" dirty="0"/>
              <a:t>Iteration 0: Base project  (expected completion next week)</a:t>
            </a:r>
            <a:endParaRPr lang="en-US" sz="2400" dirty="0">
              <a:highlight>
                <a:srgbClr val="FFFF00"/>
              </a:highlight>
            </a:endParaRPr>
          </a:p>
          <a:p>
            <a:pPr lvl="1"/>
            <a:r>
              <a:rPr lang="en-US" sz="2000" dirty="0"/>
              <a:t>Setup initial baseline code and objects (rooms, player, items, puzzles)</a:t>
            </a:r>
          </a:p>
          <a:p>
            <a:pPr lvl="1"/>
            <a:r>
              <a:rPr lang="en-US" sz="2000" dirty="0"/>
              <a:t>When possible, include common synonyms for keywords</a:t>
            </a:r>
          </a:p>
          <a:p>
            <a:pPr lvl="1"/>
            <a:r>
              <a:rPr lang="en-US" sz="2000" dirty="0"/>
              <a:t>Establish command system (use, look, inventory, move </a:t>
            </a:r>
            <a:r>
              <a:rPr lang="en-US" sz="2000" dirty="0" err="1"/>
              <a:t>etc</a:t>
            </a:r>
            <a:r>
              <a:rPr lang="en-US" sz="2000" dirty="0"/>
              <a:t>)</a:t>
            </a:r>
          </a:p>
          <a:p>
            <a:r>
              <a:rPr lang="en-US" sz="1800" dirty="0"/>
              <a:t>Iteration 1: Prototype  (est. 1-2 weeks)</a:t>
            </a:r>
            <a:endParaRPr lang="en-US" sz="1800" dirty="0">
              <a:highlight>
                <a:srgbClr val="FFFF00"/>
              </a:highlight>
            </a:endParaRPr>
          </a:p>
          <a:p>
            <a:pPr lvl="1"/>
            <a:r>
              <a:rPr lang="en-US" dirty="0"/>
              <a:t>Incorporate story elements</a:t>
            </a:r>
          </a:p>
          <a:p>
            <a:pPr lvl="1"/>
            <a:r>
              <a:rPr lang="en-US" dirty="0"/>
              <a:t>Store user inputs for troubleshooting</a:t>
            </a:r>
          </a:p>
          <a:p>
            <a:pPr lvl="1"/>
            <a:r>
              <a:rPr lang="en-US" dirty="0"/>
              <a:t>Setup game map/rooms/navigation</a:t>
            </a:r>
          </a:p>
          <a:p>
            <a:pPr lvl="1"/>
            <a:r>
              <a:rPr lang="en-US" dirty="0"/>
              <a:t>Start Testing</a:t>
            </a:r>
          </a:p>
          <a:p>
            <a:r>
              <a:rPr lang="en-US" dirty="0"/>
              <a:t>Iteration 2:</a:t>
            </a:r>
          </a:p>
          <a:p>
            <a:pPr lvl="1"/>
            <a:r>
              <a:rPr lang="en-US" dirty="0"/>
              <a:t>Story fully fleshed out</a:t>
            </a:r>
          </a:p>
          <a:p>
            <a:pPr lvl="1"/>
            <a:r>
              <a:rPr lang="en-US" dirty="0"/>
              <a:t>Save/Load game from file</a:t>
            </a:r>
          </a:p>
        </p:txBody>
      </p:sp>
    </p:spTree>
    <p:extLst>
      <p:ext uri="{BB962C8B-B14F-4D97-AF65-F5344CB8AC3E}">
        <p14:creationId xmlns:p14="http://schemas.microsoft.com/office/powerpoint/2010/main" val="9033381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943BC-8E62-00A3-9E5E-65FE7E8842AE}"/>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EB5E5072-557D-DCAC-9E04-80F07BE14743}"/>
              </a:ext>
            </a:extLst>
          </p:cNvPr>
          <p:cNvSpPr>
            <a:spLocks noGrp="1" noRot="1" noMove="1" noResize="1" noEditPoints="1" noAdjustHandles="1" noChangeArrowheads="1" noChangeShapeType="1"/>
          </p:cNvSpPr>
          <p:nvPr/>
        </p:nvSpPr>
        <p:spPr>
          <a:xfrm>
            <a:off x="-336184" y="0"/>
            <a:ext cx="16342487" cy="7924800"/>
          </a:xfrm>
          <a:prstGeom prst="rect">
            <a:avLst/>
          </a:prstGeom>
          <a:solidFill>
            <a:srgbClr val="424E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008000"/>
              </a:highlight>
            </a:endParaRPr>
          </a:p>
        </p:txBody>
      </p:sp>
      <p:sp>
        <p:nvSpPr>
          <p:cNvPr id="2" name="Title 1">
            <a:extLst>
              <a:ext uri="{FF2B5EF4-FFF2-40B4-BE49-F238E27FC236}">
                <a16:creationId xmlns:a16="http://schemas.microsoft.com/office/drawing/2014/main" id="{C630A328-91BC-EA53-A510-0602BD529D68}"/>
              </a:ext>
            </a:extLst>
          </p:cNvPr>
          <p:cNvSpPr>
            <a:spLocks noGrp="1"/>
          </p:cNvSpPr>
          <p:nvPr>
            <p:ph type="title"/>
          </p:nvPr>
        </p:nvSpPr>
        <p:spPr/>
        <p:txBody>
          <a:bodyPr/>
          <a:lstStyle/>
          <a:p>
            <a:r>
              <a:rPr lang="en-US" dirty="0"/>
              <a:t>Project Schedule Actual</a:t>
            </a:r>
          </a:p>
        </p:txBody>
      </p:sp>
      <p:sp>
        <p:nvSpPr>
          <p:cNvPr id="3" name="Content Placeholder 2">
            <a:extLst>
              <a:ext uri="{FF2B5EF4-FFF2-40B4-BE49-F238E27FC236}">
                <a16:creationId xmlns:a16="http://schemas.microsoft.com/office/drawing/2014/main" id="{FEEA864C-1906-04F5-59A3-06115942921F}"/>
              </a:ext>
            </a:extLst>
          </p:cNvPr>
          <p:cNvSpPr>
            <a:spLocks noGrp="1"/>
          </p:cNvSpPr>
          <p:nvPr>
            <p:ph idx="1"/>
          </p:nvPr>
        </p:nvSpPr>
        <p:spPr>
          <a:xfrm>
            <a:off x="1618630" y="1373017"/>
            <a:ext cx="9535131" cy="4875383"/>
          </a:xfrm>
        </p:spPr>
        <p:txBody>
          <a:bodyPr vert="horz" lIns="91440" tIns="45720" rIns="91440" bIns="45720" rtlCol="0" anchor="t">
            <a:noAutofit/>
          </a:bodyPr>
          <a:lstStyle/>
          <a:p>
            <a:r>
              <a:rPr lang="en-US" sz="2400" dirty="0"/>
              <a:t>Iteration 0- Core programming and story writing. Mostly done before the midterm presentation, though due to communication issues we weren’t able to close iteration as early as planned</a:t>
            </a:r>
          </a:p>
          <a:p>
            <a:r>
              <a:rPr lang="en-US" sz="2400" dirty="0"/>
              <a:t>Iteration 1- We missed our initial planned deadline due to team struggles. We were able to get back on path and largely meet the next deadline</a:t>
            </a:r>
          </a:p>
          <a:p>
            <a:r>
              <a:rPr lang="en-US" sz="2400" dirty="0"/>
              <a:t>Iteration 2- We had to revisit out plans for game testing. </a:t>
            </a:r>
            <a:r>
              <a:rPr lang="en-US" sz="2400" dirty="0" err="1"/>
              <a:t>Saveing</a:t>
            </a:r>
            <a:r>
              <a:rPr lang="en-US" sz="2400" dirty="0"/>
              <a:t>/Loading game was delayed to iteration 3. A lot of this ended up decoupling code and setting up event system</a:t>
            </a:r>
          </a:p>
          <a:p>
            <a:r>
              <a:rPr lang="en-US" sz="2400" dirty="0"/>
              <a:t>Iteration 3- We were able to finalize a lot of the code, at least enough for the planned project.</a:t>
            </a:r>
          </a:p>
          <a:p>
            <a:r>
              <a:rPr lang="en-US" sz="2400" dirty="0"/>
              <a:t>Iteration 4- Finalizing some bug fixes, and preparing for project turn in.</a:t>
            </a:r>
            <a:endParaRPr lang="en-US" dirty="0"/>
          </a:p>
        </p:txBody>
      </p:sp>
      <p:sp>
        <p:nvSpPr>
          <p:cNvPr id="4" name="TextBox 3">
            <a:extLst>
              <a:ext uri="{FF2B5EF4-FFF2-40B4-BE49-F238E27FC236}">
                <a16:creationId xmlns:a16="http://schemas.microsoft.com/office/drawing/2014/main" id="{7E25EB42-AA69-A49C-A758-48A102195123}"/>
              </a:ext>
            </a:extLst>
          </p:cNvPr>
          <p:cNvSpPr txBox="1"/>
          <p:nvPr/>
        </p:nvSpPr>
        <p:spPr>
          <a:xfrm>
            <a:off x="106142" y="1455019"/>
            <a:ext cx="1551066" cy="369332"/>
          </a:xfrm>
          <a:prstGeom prst="rect">
            <a:avLst/>
          </a:prstGeom>
          <a:noFill/>
        </p:spPr>
        <p:txBody>
          <a:bodyPr wrap="none" rtlCol="0">
            <a:spAutoFit/>
          </a:bodyPr>
          <a:lstStyle/>
          <a:p>
            <a:r>
              <a:rPr lang="en-US" dirty="0">
                <a:highlight>
                  <a:srgbClr val="FF0000"/>
                </a:highlight>
              </a:rPr>
              <a:t>2 Weeks Late</a:t>
            </a:r>
          </a:p>
        </p:txBody>
      </p:sp>
      <p:sp>
        <p:nvSpPr>
          <p:cNvPr id="5" name="TextBox 4">
            <a:extLst>
              <a:ext uri="{FF2B5EF4-FFF2-40B4-BE49-F238E27FC236}">
                <a16:creationId xmlns:a16="http://schemas.microsoft.com/office/drawing/2014/main" id="{7B55F1A8-51FB-B9BC-DF1D-F0878F237646}"/>
              </a:ext>
            </a:extLst>
          </p:cNvPr>
          <p:cNvSpPr txBox="1"/>
          <p:nvPr/>
        </p:nvSpPr>
        <p:spPr>
          <a:xfrm>
            <a:off x="-12909" y="2543873"/>
            <a:ext cx="1829347" cy="369332"/>
          </a:xfrm>
          <a:prstGeom prst="rect">
            <a:avLst/>
          </a:prstGeom>
          <a:noFill/>
        </p:spPr>
        <p:txBody>
          <a:bodyPr wrap="none" rtlCol="0">
            <a:spAutoFit/>
          </a:bodyPr>
          <a:lstStyle/>
          <a:p>
            <a:r>
              <a:rPr lang="en-US" dirty="0">
                <a:highlight>
                  <a:srgbClr val="FF0000"/>
                </a:highlight>
              </a:rPr>
              <a:t>Initial Deadline </a:t>
            </a:r>
          </a:p>
        </p:txBody>
      </p:sp>
      <p:sp>
        <p:nvSpPr>
          <p:cNvPr id="6" name="TextBox 5">
            <a:extLst>
              <a:ext uri="{FF2B5EF4-FFF2-40B4-BE49-F238E27FC236}">
                <a16:creationId xmlns:a16="http://schemas.microsoft.com/office/drawing/2014/main" id="{89EAC150-23BB-1A14-2B30-C44CA3447218}"/>
              </a:ext>
            </a:extLst>
          </p:cNvPr>
          <p:cNvSpPr txBox="1"/>
          <p:nvPr/>
        </p:nvSpPr>
        <p:spPr>
          <a:xfrm>
            <a:off x="-12909" y="2812417"/>
            <a:ext cx="1829346" cy="369332"/>
          </a:xfrm>
          <a:prstGeom prst="rect">
            <a:avLst/>
          </a:prstGeom>
          <a:noFill/>
        </p:spPr>
        <p:txBody>
          <a:bodyPr wrap="square" rtlCol="0">
            <a:spAutoFit/>
          </a:bodyPr>
          <a:lstStyle/>
          <a:p>
            <a:r>
              <a:rPr lang="en-US" dirty="0">
                <a:highlight>
                  <a:srgbClr val="FF0000"/>
                </a:highlight>
              </a:rPr>
              <a:t> 2 Weeks Late .  </a:t>
            </a:r>
          </a:p>
        </p:txBody>
      </p:sp>
      <p:sp>
        <p:nvSpPr>
          <p:cNvPr id="7" name="TextBox 6">
            <a:extLst>
              <a:ext uri="{FF2B5EF4-FFF2-40B4-BE49-F238E27FC236}">
                <a16:creationId xmlns:a16="http://schemas.microsoft.com/office/drawing/2014/main" id="{9474A089-63A6-F3F7-744B-37BE91346D6F}"/>
              </a:ext>
            </a:extLst>
          </p:cNvPr>
          <p:cNvSpPr txBox="1"/>
          <p:nvPr/>
        </p:nvSpPr>
        <p:spPr>
          <a:xfrm>
            <a:off x="230750" y="3893024"/>
            <a:ext cx="1829346" cy="369332"/>
          </a:xfrm>
          <a:prstGeom prst="rect">
            <a:avLst/>
          </a:prstGeom>
          <a:noFill/>
        </p:spPr>
        <p:txBody>
          <a:bodyPr wrap="square" rtlCol="0">
            <a:spAutoFit/>
          </a:bodyPr>
          <a:lstStyle/>
          <a:p>
            <a:r>
              <a:rPr lang="en-US" dirty="0">
                <a:highlight>
                  <a:srgbClr val="FF0000"/>
                </a:highlight>
              </a:rPr>
              <a:t>3 days Late </a:t>
            </a:r>
          </a:p>
        </p:txBody>
      </p:sp>
      <p:sp>
        <p:nvSpPr>
          <p:cNvPr id="8" name="TextBox 7">
            <a:extLst>
              <a:ext uri="{FF2B5EF4-FFF2-40B4-BE49-F238E27FC236}">
                <a16:creationId xmlns:a16="http://schemas.microsoft.com/office/drawing/2014/main" id="{C52776BA-C87E-DBCA-935E-3B6B818FD31A}"/>
              </a:ext>
            </a:extLst>
          </p:cNvPr>
          <p:cNvSpPr txBox="1"/>
          <p:nvPr/>
        </p:nvSpPr>
        <p:spPr>
          <a:xfrm>
            <a:off x="634700" y="5197749"/>
            <a:ext cx="609604" cy="369332"/>
          </a:xfrm>
          <a:prstGeom prst="rect">
            <a:avLst/>
          </a:prstGeom>
          <a:noFill/>
        </p:spPr>
        <p:txBody>
          <a:bodyPr wrap="square" rtlCol="0">
            <a:spAutoFit/>
          </a:bodyPr>
          <a:lstStyle/>
          <a:p>
            <a:r>
              <a:rPr lang="en-US" dirty="0">
                <a:highlight>
                  <a:srgbClr val="008000"/>
                </a:highlight>
              </a:rPr>
              <a:t>Met</a:t>
            </a:r>
          </a:p>
        </p:txBody>
      </p:sp>
      <p:sp>
        <p:nvSpPr>
          <p:cNvPr id="9" name="TextBox 8">
            <a:extLst>
              <a:ext uri="{FF2B5EF4-FFF2-40B4-BE49-F238E27FC236}">
                <a16:creationId xmlns:a16="http://schemas.microsoft.com/office/drawing/2014/main" id="{3A11AC13-30C3-F804-716C-AA0B830EA8EE}"/>
              </a:ext>
            </a:extLst>
          </p:cNvPr>
          <p:cNvSpPr txBox="1"/>
          <p:nvPr/>
        </p:nvSpPr>
        <p:spPr>
          <a:xfrm>
            <a:off x="634698" y="5879068"/>
            <a:ext cx="609604" cy="369332"/>
          </a:xfrm>
          <a:prstGeom prst="rect">
            <a:avLst/>
          </a:prstGeom>
          <a:noFill/>
        </p:spPr>
        <p:txBody>
          <a:bodyPr wrap="square" rtlCol="0">
            <a:spAutoFit/>
          </a:bodyPr>
          <a:lstStyle/>
          <a:p>
            <a:r>
              <a:rPr lang="en-US" dirty="0">
                <a:highlight>
                  <a:srgbClr val="008000"/>
                </a:highlight>
              </a:rPr>
              <a:t>Met</a:t>
            </a:r>
          </a:p>
        </p:txBody>
      </p:sp>
    </p:spTree>
    <p:extLst>
      <p:ext uri="{BB962C8B-B14F-4D97-AF65-F5344CB8AC3E}">
        <p14:creationId xmlns:p14="http://schemas.microsoft.com/office/powerpoint/2010/main" val="5031297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1B98B-0B56-33AA-CAD4-71AAB1DD2BF3}"/>
              </a:ext>
            </a:extLst>
          </p:cNvPr>
          <p:cNvSpPr>
            <a:spLocks noGrp="1"/>
          </p:cNvSpPr>
          <p:nvPr>
            <p:ph type="title"/>
          </p:nvPr>
        </p:nvSpPr>
        <p:spPr>
          <a:xfrm>
            <a:off x="2319688" y="200920"/>
            <a:ext cx="9967020" cy="1320800"/>
          </a:xfrm>
        </p:spPr>
        <p:txBody>
          <a:bodyPr/>
          <a:lstStyle/>
          <a:p>
            <a:r>
              <a:rPr lang="en-US" dirty="0"/>
              <a:t>Project Requirements (condensed)</a:t>
            </a:r>
            <a:endParaRPr lang="en-US" dirty="0">
              <a:highlight>
                <a:srgbClr val="FFFF00"/>
              </a:highlight>
            </a:endParaRPr>
          </a:p>
        </p:txBody>
      </p:sp>
      <p:pic>
        <p:nvPicPr>
          <p:cNvPr id="4" name="Picture 3">
            <a:extLst>
              <a:ext uri="{FF2B5EF4-FFF2-40B4-BE49-F238E27FC236}">
                <a16:creationId xmlns:a16="http://schemas.microsoft.com/office/drawing/2014/main" id="{40DC8858-FDE0-74A5-CA1D-5D98E41F0FAD}"/>
              </a:ext>
            </a:extLst>
          </p:cNvPr>
          <p:cNvPicPr>
            <a:picLocks noChangeAspect="1"/>
          </p:cNvPicPr>
          <p:nvPr/>
        </p:nvPicPr>
        <p:blipFill>
          <a:blip r:embed="rId3"/>
          <a:stretch>
            <a:fillRect/>
          </a:stretch>
        </p:blipFill>
        <p:spPr>
          <a:xfrm>
            <a:off x="1480493" y="861320"/>
            <a:ext cx="9231013" cy="5906324"/>
          </a:xfrm>
          <a:prstGeom prst="rect">
            <a:avLst/>
          </a:prstGeom>
        </p:spPr>
      </p:pic>
    </p:spTree>
    <p:extLst>
      <p:ext uri="{BB962C8B-B14F-4D97-AF65-F5344CB8AC3E}">
        <p14:creationId xmlns:p14="http://schemas.microsoft.com/office/powerpoint/2010/main" val="3983543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B68FE-A3E0-F6A0-86A8-A9365CAED577}"/>
              </a:ext>
            </a:extLst>
          </p:cNvPr>
          <p:cNvSpPr>
            <a:spLocks noGrp="1"/>
          </p:cNvSpPr>
          <p:nvPr>
            <p:ph type="title"/>
          </p:nvPr>
        </p:nvSpPr>
        <p:spPr/>
        <p:txBody>
          <a:bodyPr/>
          <a:lstStyle/>
          <a:p>
            <a:r>
              <a:rPr lang="en-US"/>
              <a:t>Future of the Project</a:t>
            </a:r>
          </a:p>
        </p:txBody>
      </p:sp>
      <p:sp>
        <p:nvSpPr>
          <p:cNvPr id="3" name="Content Placeholder 2">
            <a:extLst>
              <a:ext uri="{FF2B5EF4-FFF2-40B4-BE49-F238E27FC236}">
                <a16:creationId xmlns:a16="http://schemas.microsoft.com/office/drawing/2014/main" id="{E110DC89-7D61-8F17-B859-0138E4EF50FC}"/>
              </a:ext>
            </a:extLst>
          </p:cNvPr>
          <p:cNvSpPr>
            <a:spLocks noGrp="1"/>
          </p:cNvSpPr>
          <p:nvPr>
            <p:ph idx="1"/>
          </p:nvPr>
        </p:nvSpPr>
        <p:spPr>
          <a:xfrm>
            <a:off x="677334" y="1713899"/>
            <a:ext cx="8596668" cy="3880773"/>
          </a:xfrm>
        </p:spPr>
        <p:txBody>
          <a:bodyPr vert="horz" lIns="91440" tIns="45720" rIns="91440" bIns="45720" rtlCol="0" anchor="t">
            <a:normAutofit/>
          </a:bodyPr>
          <a:lstStyle/>
          <a:p>
            <a:pPr marL="0" indent="0">
              <a:buNone/>
            </a:pPr>
            <a:r>
              <a:rPr lang="en-US" sz="3200" dirty="0"/>
              <a:t>While there are many things that we wish that we could improve with the final product</a:t>
            </a:r>
          </a:p>
          <a:p>
            <a:pPr marL="0" indent="0">
              <a:buNone/>
            </a:pPr>
            <a:endParaRPr lang="en-US" sz="3200" dirty="0"/>
          </a:p>
          <a:p>
            <a:pPr marL="0" indent="0">
              <a:buNone/>
            </a:pPr>
            <a:r>
              <a:rPr lang="en-US" sz="3200" dirty="0"/>
              <a:t>We do not intend to continue work on this project as a group</a:t>
            </a:r>
          </a:p>
        </p:txBody>
      </p:sp>
    </p:spTree>
    <p:extLst>
      <p:ext uri="{BB962C8B-B14F-4D97-AF65-F5344CB8AC3E}">
        <p14:creationId xmlns:p14="http://schemas.microsoft.com/office/powerpoint/2010/main" val="307368887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33</TotalTime>
  <Words>1040</Words>
  <Application>Microsoft Office PowerPoint</Application>
  <PresentationFormat>Widescreen</PresentationFormat>
  <Paragraphs>124</Paragraphs>
  <Slides>23</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Arial</vt:lpstr>
      <vt:lpstr>Courier New</vt:lpstr>
      <vt:lpstr>Trebuchet MS</vt:lpstr>
      <vt:lpstr>Wingdings 3</vt:lpstr>
      <vt:lpstr>Facet</vt:lpstr>
      <vt:lpstr>Shattered Protocols</vt:lpstr>
      <vt:lpstr>About Us</vt:lpstr>
      <vt:lpstr>Shattered Protocols Project Description</vt:lpstr>
      <vt:lpstr>Problem Statement</vt:lpstr>
      <vt:lpstr>PowerPoint Presentation</vt:lpstr>
      <vt:lpstr>The Problem: The world needs more computer science puzzles presented in an entertaining and educational manner.</vt:lpstr>
      <vt:lpstr>Planned Script:</vt:lpstr>
      <vt:lpstr>Project Design</vt:lpstr>
      <vt:lpstr>Project Verification</vt:lpstr>
      <vt:lpstr>Ethics Operation Plan</vt:lpstr>
      <vt:lpstr>Project Iteration Organization</vt:lpstr>
      <vt:lpstr>Software Engineering Principles</vt:lpstr>
      <vt:lpstr>Development</vt:lpstr>
      <vt:lpstr>Software Engineering Tools</vt:lpstr>
      <vt:lpstr>Project Architecture (Event Driven Approach)</vt:lpstr>
      <vt:lpstr>Project Demo</vt:lpstr>
      <vt:lpstr>Class Model</vt:lpstr>
      <vt:lpstr>Activity Diagram</vt:lpstr>
      <vt:lpstr>Team Conflicts</vt:lpstr>
      <vt:lpstr>Project Schedule Projection </vt:lpstr>
      <vt:lpstr>Project Schedule Actual</vt:lpstr>
      <vt:lpstr>Project Requirements (condensed)</vt:lpstr>
      <vt:lpstr>Future of the Project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Taylor Fox</dc:creator>
  <cp:lastModifiedBy>Taylor Fox</cp:lastModifiedBy>
  <cp:revision>276</cp:revision>
  <dcterms:created xsi:type="dcterms:W3CDTF">2024-09-24T21:22:02Z</dcterms:created>
  <dcterms:modified xsi:type="dcterms:W3CDTF">2024-11-26T22:35:45Z</dcterms:modified>
</cp:coreProperties>
</file>